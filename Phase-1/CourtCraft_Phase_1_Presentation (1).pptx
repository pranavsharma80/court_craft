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u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2860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1783080"/>
            <a:ext cx="987552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4000" b="0">
                <a:solidFill>
                  <a:srgbClr val="2B496C"/>
                </a:solidFill>
                <a:latin typeface="Arial Narrow"/>
              </a:defRPr>
            </a:pPr>
            <a:r>
              <a:t>PROJECT-BASED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514600"/>
            <a:ext cx="521208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2500" b="0">
                <a:solidFill>
                  <a:srgbClr val="2D2D30"/>
                </a:solidFill>
                <a:latin typeface="Arial Narrow"/>
              </a:defRPr>
            </a:pPr>
            <a:r>
              <a:t>PHASE-I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01568"/>
            <a:ext cx="85039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2100" b="1">
                <a:solidFill>
                  <a:srgbClr val="565E68"/>
                </a:solidFill>
                <a:latin typeface="Arial Narrow"/>
              </a:defRPr>
            </a:pPr>
            <a:r>
              <a:t>Virtual Courtroom Case &amp; Priority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3913632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600" b="0">
                <a:solidFill>
                  <a:srgbClr val="2B496C"/>
                </a:solidFill>
                <a:latin typeface="Arial Narrow"/>
              </a:defRPr>
            </a:pPr>
            <a:r>
              <a:t>Team ID: T095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166360"/>
            <a:ext cx="8138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2D2D30"/>
                </a:solidFill>
                <a:latin typeface="Arial Narrow"/>
              </a:defRPr>
            </a:pPr>
            <a:r>
              <a:t>Department of Computer Science &amp;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5532120"/>
            <a:ext cx="81381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600" b="0">
                <a:solidFill>
                  <a:srgbClr val="2D2D30"/>
                </a:solidFill>
                <a:latin typeface="Arial Narrow"/>
              </a:defRPr>
            </a:pPr>
            <a:r>
              <a:t>Graphic Era (Deemed to be University), Dehradun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5879592"/>
            <a:ext cx="63093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0">
                <a:solidFill>
                  <a:srgbClr val="2D2D30"/>
                </a:solidFill>
                <a:latin typeface="Arial Narrow"/>
              </a:defRPr>
            </a:pPr>
            <a:r>
              <a:t>Academic Session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u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2860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5029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0">
                <a:solidFill>
                  <a:srgbClr val="2B496C"/>
                </a:solidFill>
                <a:latin typeface="Arial Narrow"/>
              </a:defRPr>
            </a:pPr>
            <a:r>
              <a:t>Team &amp; Project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0744200" cy="22860"/>
          </a:xfrm>
          <a:prstGeom prst="rect">
            <a:avLst/>
          </a:prstGeom>
          <a:solidFill>
            <a:srgbClr val="2F4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6537960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65E68"/>
                </a:solidFill>
                <a:latin typeface="Arial Narrow"/>
              </a:defRPr>
            </a:pPr>
            <a:r>
              <a:t>Department of Computer Science &amp; Engineering — Graphic Era (Deemed to be University)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3796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65E68"/>
                </a:solidFill>
                <a:latin typeface="Arial Narrow"/>
              </a:defRPr>
            </a:pPr>
            <a:r>
              <a:t>2/10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5166360" cy="1965960"/>
          </a:xfrm>
          <a:prstGeom prst="roundRect">
            <a:avLst/>
          </a:prstGeom>
          <a:solidFill>
            <a:srgbClr val="E1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89320" y="1600200"/>
            <a:ext cx="5257800" cy="1965960"/>
          </a:xfrm>
          <a:prstGeom prst="roundRect">
            <a:avLst/>
          </a:prstGeom>
          <a:solidFill>
            <a:srgbClr val="E1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3736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0">
                <a:solidFill>
                  <a:srgbClr val="2B496C"/>
                </a:solidFill>
                <a:latin typeface="Arial Narrow"/>
              </a:defRPr>
            </a:pPr>
            <a:r>
              <a:t>Project 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21408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400" b="1">
                <a:solidFill>
                  <a:srgbClr val="2D2D30"/>
                </a:solidFill>
                <a:latin typeface="Arial Narrow"/>
              </a:defRPr>
            </a:pPr>
            <a:r>
              <a:t>Team ID: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121408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400" b="0">
                <a:solidFill>
                  <a:srgbClr val="2D2D30"/>
                </a:solidFill>
                <a:latin typeface="Arial Narrow"/>
              </a:defRPr>
            </a:pPr>
            <a:r>
              <a:t>T095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68879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400" b="1">
                <a:solidFill>
                  <a:srgbClr val="2D2D30"/>
                </a:solidFill>
                <a:latin typeface="Arial Narrow"/>
              </a:defRPr>
            </a:pPr>
            <a:r>
              <a:t>Team Name: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468879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400" b="0">
                <a:solidFill>
                  <a:srgbClr val="2D2D30"/>
                </a:solidFill>
                <a:latin typeface="Arial Narrow"/>
              </a:defRPr>
            </a:pPr>
            <a:r>
              <a:t>CourtCraft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16351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400" b="1">
                <a:solidFill>
                  <a:srgbClr val="2D2D30"/>
                </a:solidFill>
                <a:latin typeface="Arial Narrow"/>
              </a:defRPr>
            </a:pPr>
            <a:r>
              <a:t>Course ID: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816351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400" b="0">
                <a:solidFill>
                  <a:srgbClr val="2D2D30"/>
                </a:solidFill>
                <a:latin typeface="Arial Narrow"/>
              </a:defRPr>
            </a:pPr>
            <a:r>
              <a:t>DSCPP-III-2026-T095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63823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400" b="1">
                <a:solidFill>
                  <a:srgbClr val="2D2D30"/>
                </a:solidFill>
                <a:latin typeface="Arial Narrow"/>
              </a:defRPr>
            </a:pPr>
            <a:r>
              <a:t>Domain: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163823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400" b="0">
                <a:solidFill>
                  <a:srgbClr val="2D2D30"/>
                </a:solidFill>
                <a:latin typeface="Arial Narrow"/>
              </a:defRPr>
            </a:pPr>
            <a:r>
              <a:t>Data Structures &amp; C++ 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737360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0">
                <a:solidFill>
                  <a:srgbClr val="2B496C"/>
                </a:solidFill>
                <a:latin typeface="Arial Narrow"/>
              </a:defRPr>
            </a:pPr>
            <a:r>
              <a:t>Team Members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14884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500" b="0">
                <a:solidFill>
                  <a:srgbClr val="2D2D30"/>
                </a:solidFill>
                <a:latin typeface="Arial Narrow"/>
              </a:defRPr>
            </a:pPr>
            <a:r>
              <a:t>1. Sharma Pranav — 2510370362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624328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500" b="0">
                <a:solidFill>
                  <a:srgbClr val="2D2D30"/>
                </a:solidFill>
                <a:latin typeface="Arial Narrow"/>
              </a:defRPr>
            </a:pPr>
            <a:r>
              <a:t>2. Choudhary Vansh — 25101210186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099816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500" b="0">
                <a:solidFill>
                  <a:srgbClr val="2D2D30"/>
                </a:solidFill>
                <a:latin typeface="Arial Narrow"/>
              </a:defRPr>
            </a:pPr>
            <a:r>
              <a:t>3. Verma Sudanshu — 25021026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886200"/>
            <a:ext cx="10744200" cy="1097280"/>
          </a:xfrm>
          <a:prstGeom prst="roundRect">
            <a:avLst/>
          </a:prstGeom>
          <a:solidFill>
            <a:srgbClr val="E1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069080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0">
                <a:solidFill>
                  <a:srgbClr val="2B496C"/>
                </a:solidFill>
                <a:latin typeface="Arial Narrow"/>
              </a:defRPr>
            </a:pPr>
            <a:r>
              <a:t>Project Focus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434840"/>
            <a:ext cx="1014984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500" b="0">
                <a:solidFill>
                  <a:srgbClr val="2D2D30"/>
                </a:solidFill>
                <a:latin typeface="Arial Narrow"/>
              </a:defRPr>
            </a:pPr>
            <a:r>
              <a:t>An educational simulation that combines Data Structures and Object-Oriented Programming to organize pending cases and automatically determine hearing priority.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u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2860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5029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0">
                <a:solidFill>
                  <a:srgbClr val="2B496C"/>
                </a:solidFill>
                <a:latin typeface="Arial Narrow"/>
              </a:defRPr>
            </a:pPr>
            <a:r>
              <a:t>Problem Statement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0744200" cy="22860"/>
          </a:xfrm>
          <a:prstGeom prst="rect">
            <a:avLst/>
          </a:prstGeom>
          <a:solidFill>
            <a:srgbClr val="2F4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6537960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65E68"/>
                </a:solidFill>
                <a:latin typeface="Arial Narrow"/>
              </a:defRPr>
            </a:pPr>
            <a:r>
              <a:t>Department of Computer Science &amp; Engineering — Graphic Era (Deemed to be University)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3796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65E68"/>
                </a:solidFill>
                <a:latin typeface="Arial Narrow"/>
              </a:defRPr>
            </a:pPr>
            <a:r>
              <a:t>3/10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10744200" cy="1143000"/>
          </a:xfrm>
          <a:prstGeom prst="roundRect">
            <a:avLst/>
          </a:prstGeom>
          <a:solidFill>
            <a:srgbClr val="E1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0">
                <a:solidFill>
                  <a:srgbClr val="2B496C"/>
                </a:solidFill>
                <a:latin typeface="Arial Narrow"/>
              </a:defRPr>
            </a:pPr>
            <a: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2412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500" b="0">
                <a:solidFill>
                  <a:srgbClr val="2D2D30"/>
                </a:solidFill>
                <a:latin typeface="Arial Narrow"/>
              </a:defRPr>
            </a:pPr>
            <a:r>
              <a:t>Managing pending court cases and scheduling hearings is difficult when urgent cases may need faster attention than cases handled simply in arrival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43200"/>
            <a:ext cx="4937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0">
                <a:solidFill>
                  <a:srgbClr val="2B496C"/>
                </a:solidFill>
                <a:latin typeface="Arial Narrow"/>
              </a:defRPr>
            </a:pPr>
            <a:r>
              <a:t>Motivation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27248"/>
            <a:ext cx="49377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400" b="0">
                <a:solidFill>
                  <a:srgbClr val="2D2D30"/>
                </a:solidFill>
                <a:latin typeface="Arial Narrow"/>
              </a:defRPr>
            </a:pPr>
            <a:r>
              <a:t>▸  Some cases have been waiting for a long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694176"/>
            <a:ext cx="49377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400" b="0">
                <a:solidFill>
                  <a:srgbClr val="2D2D30"/>
                </a:solidFill>
                <a:latin typeface="Arial Narrow"/>
              </a:defRPr>
            </a:pPr>
            <a:r>
              <a:t>▸  Urgent matters, such as bail requests or serious cases, may require faster attention.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61104"/>
            <a:ext cx="49377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400" b="0">
                <a:solidFill>
                  <a:srgbClr val="2D2D30"/>
                </a:solidFill>
                <a:latin typeface="Arial Narrow"/>
              </a:defRPr>
            </a:pPr>
            <a:r>
              <a:t>▸  Important case details and hearing history need organized management.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743200"/>
            <a:ext cx="4937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0">
                <a:solidFill>
                  <a:srgbClr val="2B496C"/>
                </a:solidFill>
                <a:latin typeface="Arial Narrow"/>
              </a:defRPr>
            </a:pPr>
            <a:r>
              <a:t>Project Need / Expected Benefit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3127248"/>
            <a:ext cx="49377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400" b="0">
                <a:solidFill>
                  <a:srgbClr val="2D2D30"/>
                </a:solidFill>
                <a:latin typeface="Arial Narrow"/>
              </a:defRPr>
            </a:pPr>
            <a:r>
              <a:t>▸  Automatically calculate an urgency score for each pending 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3694176"/>
            <a:ext cx="49377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400" b="0">
                <a:solidFill>
                  <a:srgbClr val="2D2D30"/>
                </a:solidFill>
                <a:latin typeface="Arial Narrow"/>
              </a:defRPr>
            </a:pPr>
            <a:r>
              <a:t>▸  Prioritize cases using relevant factors and special conditions.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261104"/>
            <a:ext cx="49377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400" b="0">
                <a:solidFill>
                  <a:srgbClr val="2D2D30"/>
                </a:solidFill>
                <a:latin typeface="Arial Narrow"/>
              </a:defRPr>
            </a:pPr>
            <a:r>
              <a:t>▸  Make the simulated courtroom workflow more organized, quicker and easier to manage.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u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2860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5029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0">
                <a:solidFill>
                  <a:srgbClr val="2B496C"/>
                </a:solidFill>
                <a:latin typeface="Arial Narrow"/>
              </a:defRPr>
            </a:pPr>
            <a: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0744200" cy="22860"/>
          </a:xfrm>
          <a:prstGeom prst="rect">
            <a:avLst/>
          </a:prstGeom>
          <a:solidFill>
            <a:srgbClr val="2F4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6537960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65E68"/>
                </a:solidFill>
                <a:latin typeface="Arial Narrow"/>
              </a:defRPr>
            </a:pPr>
            <a:r>
              <a:t>Department of Computer Science &amp; Engineering — Graphic Era (Deemed to be University)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3796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65E68"/>
                </a:solidFill>
                <a:latin typeface="Arial Narrow"/>
              </a:defRPr>
            </a:pPr>
            <a:r>
              <a:t>4/10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0">
                <a:solidFill>
                  <a:srgbClr val="2B496C"/>
                </a:solidFill>
                <a:latin typeface="Arial Narrow"/>
              </a:defRPr>
            </a:pPr>
            <a:r>
              <a:t>Project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1498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500" b="0">
                <a:solidFill>
                  <a:srgbClr val="2D2D30"/>
                </a:solidFill>
                <a:latin typeface="Arial Narrow"/>
              </a:defRPr>
            </a:pPr>
            <a:r>
              <a:t>1.  Develop a Courtroom Case Management &amp; Priority System for pending cases.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04872"/>
            <a:ext cx="101498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500" b="0">
                <a:solidFill>
                  <a:srgbClr val="2D2D30"/>
                </a:solidFill>
                <a:latin typeface="Arial Narrow"/>
              </a:defRPr>
            </a:pPr>
            <a:r>
              <a:t>2.  Register Criminal, Civil and Family cases with severity, pending days, evidence and witnesses.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26664"/>
            <a:ext cx="101498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500" b="0">
                <a:solidFill>
                  <a:srgbClr val="2D2D30"/>
                </a:solidFill>
                <a:latin typeface="Arial Narrow"/>
              </a:defRPr>
            </a:pPr>
            <a:r>
              <a:t>3.  Calculate an urgency score and use a Priority Queue to identify the next case.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48456"/>
            <a:ext cx="101498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500" b="0">
                <a:solidFill>
                  <a:srgbClr val="2D2D30"/>
                </a:solidFill>
                <a:latin typeface="Arial Narrow"/>
              </a:defRPr>
            </a:pPr>
            <a:r>
              <a:t>4.  Search cases quickly using a unique Case ID through a Hash Map.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70248"/>
            <a:ext cx="101498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500" b="0">
                <a:solidFill>
                  <a:srgbClr val="2D2D30"/>
                </a:solidFill>
                <a:latin typeface="Arial Narrow"/>
              </a:defRPr>
            </a:pPr>
            <a:r>
              <a:t>5.  Manage hearing history using a Linked List and support undo actions using a Stack.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101498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500" b="0">
                <a:solidFill>
                  <a:srgbClr val="2D2D30"/>
                </a:solidFill>
                <a:latin typeface="Arial Narrow"/>
              </a:defRPr>
            </a:pPr>
            <a:r>
              <a:t>6.  Apply encapsulation, inheritance, abstraction and polymorphism in C++.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715000"/>
            <a:ext cx="9966960" cy="502920"/>
          </a:xfrm>
          <a:prstGeom prst="roundRect">
            <a:avLst/>
          </a:prstGeom>
          <a:solidFill>
            <a:srgbClr val="E1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833872"/>
            <a:ext cx="9784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500" b="1">
                <a:solidFill>
                  <a:srgbClr val="2D2D30"/>
                </a:solidFill>
                <a:latin typeface="Arial Narrow"/>
              </a:defRPr>
            </a:pPr>
            <a:r>
              <a:t>Key Objective: Efficiently organize pending cases and determine hearing priority automatically.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u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2860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5029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0">
                <a:solidFill>
                  <a:srgbClr val="2B496C"/>
                </a:solidFill>
                <a:latin typeface="Arial Narrow"/>
              </a:defRPr>
            </a:pPr>
            <a:r>
              <a:t>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0744200" cy="22860"/>
          </a:xfrm>
          <a:prstGeom prst="rect">
            <a:avLst/>
          </a:prstGeom>
          <a:solidFill>
            <a:srgbClr val="2F4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6537960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65E68"/>
                </a:solidFill>
                <a:latin typeface="Arial Narrow"/>
              </a:defRPr>
            </a:pPr>
            <a:r>
              <a:t>Department of Computer Science &amp; Engineering — Graphic Era (Deemed to be University)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3796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65E68"/>
                </a:solidFill>
                <a:latin typeface="Arial Narrow"/>
              </a:defRPr>
            </a:pPr>
            <a:r>
              <a:t>5/10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0">
                <a:solidFill>
                  <a:srgbClr val="2B496C"/>
                </a:solidFill>
                <a:latin typeface="Arial Narrow"/>
              </a:defRPr>
            </a:pPr>
            <a:r>
              <a:t>Proposed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01368"/>
            <a:ext cx="50292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2D2D30"/>
                </a:solidFill>
                <a:latin typeface="Arial Narrow"/>
              </a:defRPr>
            </a:pPr>
            <a:r>
              <a:t>▸  Input: Case type, severity, pending days and special conditions.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68296"/>
            <a:ext cx="50292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2D2D30"/>
                </a:solidFill>
                <a:latin typeface="Arial Narrow"/>
              </a:defRPr>
            </a:pPr>
            <a:r>
              <a:t>▸  Urgency Calculation: Combine waiting time, seriousness and special categories.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5224"/>
            <a:ext cx="50292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2D2D30"/>
                </a:solidFill>
                <a:latin typeface="Arial Narrow"/>
              </a:defRPr>
            </a:pPr>
            <a:r>
              <a:t>▸  Priority Handling: Max-Heap based Priority Queue keeps the highest-priority case at the top.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02152"/>
            <a:ext cx="50292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2D2D30"/>
                </a:solidFill>
                <a:latin typeface="Arial Narrow"/>
              </a:defRPr>
            </a:pPr>
            <a:r>
              <a:t>▸  Data Management: Hash Map for Case ID search and Linked List for hearing history.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69080"/>
            <a:ext cx="50292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2D2D30"/>
                </a:solidFill>
                <a:latin typeface="Arial Narrow"/>
              </a:defRPr>
            </a:pPr>
            <a:r>
              <a:t>▸  OOP Design: Base Case class with CriminalCase, CivilCase and FamilyCase subclasses.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417320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0">
                <a:solidFill>
                  <a:srgbClr val="2B496C"/>
                </a:solidFill>
                <a:latin typeface="Arial Narrow"/>
              </a:defRPr>
            </a:pPr>
            <a:r>
              <a:t>Key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801368"/>
            <a:ext cx="47548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2D2D30"/>
                </a:solidFill>
                <a:latin typeface="Arial Narrow"/>
              </a:defRPr>
            </a:pPr>
            <a:r>
              <a:t>▸  Case registration and status updates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368296"/>
            <a:ext cx="47548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2D2D30"/>
                </a:solidFill>
                <a:latin typeface="Arial Narrow"/>
              </a:defRPr>
            </a:pPr>
            <a:r>
              <a:t>▸  Automatic urgency-based prioritization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935224"/>
            <a:ext cx="47548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2D2D30"/>
                </a:solidFill>
                <a:latin typeface="Arial Narrow"/>
              </a:defRPr>
            </a:pPr>
            <a:r>
              <a:t>▸  Fast Case ID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502152"/>
            <a:ext cx="47548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2D2D30"/>
                </a:solidFill>
                <a:latin typeface="Arial Narrow"/>
              </a:defRPr>
            </a:pPr>
            <a:r>
              <a:t>▸  Evidence and witness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4069080"/>
            <a:ext cx="47548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2D2D30"/>
                </a:solidFill>
                <a:latin typeface="Arial Narrow"/>
              </a:defRPr>
            </a:pPr>
            <a:r>
              <a:t>▸  Hearing-history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636008"/>
            <a:ext cx="47548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2D2D30"/>
                </a:solidFill>
                <a:latin typeface="Arial Narrow"/>
              </a:defRPr>
            </a:pPr>
            <a:r>
              <a:t>▸  Undo support for recent 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5074920"/>
            <a:ext cx="4754880" cy="777240"/>
          </a:xfrm>
          <a:prstGeom prst="roundRect">
            <a:avLst/>
          </a:prstGeom>
          <a:solidFill>
            <a:srgbClr val="E1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5230368"/>
            <a:ext cx="44805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0">
                <a:solidFill>
                  <a:srgbClr val="2D2D30"/>
                </a:solidFill>
                <a:latin typeface="Arial Narrow"/>
              </a:defRPr>
            </a:pPr>
            <a:r>
              <a:t>The system demonstrates how multiple data structures and C++ OOP can work together in one real-life simulation.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u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2860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5029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0">
                <a:solidFill>
                  <a:srgbClr val="2B496C"/>
                </a:solidFill>
                <a:latin typeface="Arial Narrow"/>
              </a:defRPr>
            </a:pPr>
            <a:r>
              <a:t>Integration of PBL Course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0744200" cy="22860"/>
          </a:xfrm>
          <a:prstGeom prst="rect">
            <a:avLst/>
          </a:prstGeom>
          <a:solidFill>
            <a:srgbClr val="2F4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6537960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65E68"/>
                </a:solidFill>
                <a:latin typeface="Arial Narrow"/>
              </a:defRPr>
            </a:pPr>
            <a:r>
              <a:t>Department of Computer Science &amp; Engineering — Graphic Era (Deemed to be University)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3796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65E68"/>
                </a:solidFill>
                <a:latin typeface="Arial Narrow"/>
              </a:defRPr>
            </a:pPr>
            <a:r>
              <a:t>6/10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1828800" cy="548640"/>
          </a:xfrm>
          <a:prstGeom prst="rect">
            <a:avLst/>
          </a:prstGeom>
          <a:solidFill>
            <a:srgbClr val="FAFAF8"/>
          </a:solidFill>
          <a:ln>
            <a:solidFill>
              <a:srgbClr val="2F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68880" y="1508760"/>
            <a:ext cx="4663440" cy="548640"/>
          </a:xfrm>
          <a:prstGeom prst="rect">
            <a:avLst/>
          </a:prstGeom>
          <a:solidFill>
            <a:srgbClr val="FAFAF8"/>
          </a:solidFill>
          <a:ln>
            <a:solidFill>
              <a:srgbClr val="2F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0" y="1508760"/>
            <a:ext cx="3931920" cy="548640"/>
          </a:xfrm>
          <a:prstGeom prst="rect">
            <a:avLst/>
          </a:prstGeom>
          <a:solidFill>
            <a:srgbClr val="FAFAF8"/>
          </a:solidFill>
          <a:ln>
            <a:solidFill>
              <a:srgbClr val="2F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1645919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200" b="0">
                <a:solidFill>
                  <a:srgbClr val="2D2D30"/>
                </a:solidFill>
                <a:latin typeface="Arial Narrow"/>
              </a:defRPr>
            </a:pPr>
            <a:r>
              <a:t>Course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645919"/>
            <a:ext cx="448055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200" b="0">
                <a:solidFill>
                  <a:srgbClr val="2D2D30"/>
                </a:solidFill>
                <a:latin typeface="Arial Narrow"/>
              </a:defRPr>
            </a:pPr>
            <a:r>
              <a:t>Concepts Applied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59" y="1645919"/>
            <a:ext cx="374903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200" b="0">
                <a:solidFill>
                  <a:srgbClr val="2D2D30"/>
                </a:solidFill>
                <a:latin typeface="Arial Narrow"/>
              </a:defRPr>
            </a:pPr>
            <a:r>
              <a:t>Project Module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057400"/>
            <a:ext cx="1828800" cy="1325880"/>
          </a:xfrm>
          <a:prstGeom prst="rect">
            <a:avLst/>
          </a:prstGeom>
          <a:solidFill>
            <a:srgbClr val="EDF0F5"/>
          </a:solidFill>
          <a:ln>
            <a:solidFill>
              <a:srgbClr val="2F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286000"/>
            <a:ext cx="1609344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2D2D30"/>
                </a:solidFill>
                <a:latin typeface="Arial Narrow"/>
              </a:defRPr>
            </a:pPr>
            <a:r>
              <a:t>Data Structures in C</a:t>
            </a:r>
            <a:br/>
            <a:r>
              <a:t>(DSCPP-III)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2057400"/>
            <a:ext cx="4663440" cy="1325880"/>
          </a:xfrm>
          <a:prstGeom prst="rect">
            <a:avLst/>
          </a:prstGeom>
          <a:solidFill>
            <a:srgbClr val="EDF0F5"/>
          </a:solidFill>
          <a:ln>
            <a:solidFill>
              <a:srgbClr val="2F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78608" y="2286000"/>
            <a:ext cx="4443983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2D2D30"/>
                </a:solidFill>
                <a:latin typeface="Arial Narrow"/>
              </a:defRPr>
            </a:pPr>
            <a:r>
              <a:t>Priority Queue, Hash Map,</a:t>
            </a:r>
            <a:br/>
            <a:r>
              <a:t>Linked List, Stack, Heap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2057400"/>
            <a:ext cx="3931920" cy="1325880"/>
          </a:xfrm>
          <a:prstGeom prst="rect">
            <a:avLst/>
          </a:prstGeom>
          <a:solidFill>
            <a:srgbClr val="EDF0F5"/>
          </a:solidFill>
          <a:ln>
            <a:solidFill>
              <a:srgbClr val="2F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42048" y="2286000"/>
            <a:ext cx="3712463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2D2D30"/>
                </a:solidFill>
                <a:latin typeface="Arial Narrow"/>
              </a:defRPr>
            </a:pPr>
            <a:r>
              <a:t>Case prioritization, Case ID search,</a:t>
            </a:r>
            <a:br/>
            <a:r>
              <a:t>hearing history and undo actions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383280"/>
            <a:ext cx="1828800" cy="1325880"/>
          </a:xfrm>
          <a:prstGeom prst="rect">
            <a:avLst/>
          </a:prstGeom>
          <a:solidFill>
            <a:srgbClr val="EDF0F5"/>
          </a:solidFill>
          <a:ln>
            <a:solidFill>
              <a:srgbClr val="2F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611880"/>
            <a:ext cx="1609344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2D2D30"/>
                </a:solidFill>
                <a:latin typeface="Arial Narrow"/>
              </a:defRPr>
            </a:pPr>
            <a:r>
              <a:t>OOPs with C++</a:t>
            </a:r>
            <a:br/>
            <a:r>
              <a:t>(DSCPP-III)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3383280"/>
            <a:ext cx="4663440" cy="1325880"/>
          </a:xfrm>
          <a:prstGeom prst="rect">
            <a:avLst/>
          </a:prstGeom>
          <a:solidFill>
            <a:srgbClr val="EDF0F5"/>
          </a:solidFill>
          <a:ln>
            <a:solidFill>
              <a:srgbClr val="2F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78608" y="3611880"/>
            <a:ext cx="4443983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2D2D30"/>
                </a:solidFill>
                <a:latin typeface="Arial Narrow"/>
              </a:defRPr>
            </a:pPr>
            <a:r>
              <a:t>Classes &amp; Objects, Encapsulation,</a:t>
            </a:r>
            <a:br/>
            <a:r>
              <a:t>Abstraction, Inheritance,</a:t>
            </a:r>
            <a:br/>
            <a:r>
              <a:t>Polymorphism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3383280"/>
            <a:ext cx="3931920" cy="1325880"/>
          </a:xfrm>
          <a:prstGeom prst="rect">
            <a:avLst/>
          </a:prstGeom>
          <a:solidFill>
            <a:srgbClr val="EDF0F5"/>
          </a:solidFill>
          <a:ln>
            <a:solidFill>
              <a:srgbClr val="2F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42048" y="3611880"/>
            <a:ext cx="3712463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2D2D30"/>
                </a:solidFill>
                <a:latin typeface="Arial Narrow"/>
              </a:defRPr>
            </a:pPr>
            <a:r>
              <a:t>Case hierarchy and CourtSystem</a:t>
            </a:r>
            <a:br/>
            <a:r>
              <a:t>class design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5074920"/>
            <a:ext cx="9692640" cy="502920"/>
          </a:xfrm>
          <a:prstGeom prst="roundRect">
            <a:avLst/>
          </a:prstGeom>
          <a:solidFill>
            <a:srgbClr val="E1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5212080"/>
            <a:ext cx="941832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200" b="0">
                <a:solidFill>
                  <a:srgbClr val="2D2D30"/>
                </a:solidFill>
                <a:latin typeface="Arial Narrow"/>
              </a:defRPr>
            </a:pPr>
            <a:r>
              <a:t>Note: The project integrates both Data Structures and Object-Oriented Programming concepts in one educational system.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u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2860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5029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0">
                <a:solidFill>
                  <a:srgbClr val="2B496C"/>
                </a:solidFill>
                <a:latin typeface="Arial Narrow"/>
              </a:defRPr>
            </a:pPr>
            <a:r>
              <a:t>System Architecture /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0744200" cy="22860"/>
          </a:xfrm>
          <a:prstGeom prst="rect">
            <a:avLst/>
          </a:prstGeom>
          <a:solidFill>
            <a:srgbClr val="2F4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6537960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65E68"/>
                </a:solidFill>
                <a:latin typeface="Arial Narrow"/>
              </a:defRPr>
            </a:pPr>
            <a:r>
              <a:t>Department of Computer Science &amp; Engineering — Graphic Era (Deemed to be University)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3796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65E68"/>
                </a:solidFill>
                <a:latin typeface="Arial Narrow"/>
              </a:defRPr>
            </a:pPr>
            <a:r>
              <a:t>7/10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1645920" cy="868680"/>
          </a:xfrm>
          <a:prstGeom prst="roundRect">
            <a:avLst/>
          </a:prstGeom>
          <a:solidFill>
            <a:srgbClr val="EDF0F5"/>
          </a:solidFill>
          <a:ln>
            <a:solidFill>
              <a:srgbClr val="2F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627632"/>
            <a:ext cx="1499616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400" b="0">
                <a:solidFill>
                  <a:srgbClr val="2B496C"/>
                </a:solidFill>
                <a:latin typeface="Arial Narrow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947672"/>
            <a:ext cx="1499616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000" b="0">
                <a:solidFill>
                  <a:srgbClr val="2D2D30"/>
                </a:solidFill>
                <a:latin typeface="Arial Narrow"/>
              </a:defRPr>
            </a:pPr>
            <a:r>
              <a:t>Case Details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48840" y="1938528"/>
            <a:ext cx="274320" cy="0"/>
          </a:xfrm>
          <a:prstGeom prst="line">
            <a:avLst/>
          </a:prstGeom>
          <a:ln w="15240">
            <a:solidFill>
              <a:srgbClr val="2F4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68880" y="1508760"/>
            <a:ext cx="1920240" cy="868680"/>
          </a:xfrm>
          <a:prstGeom prst="roundRect">
            <a:avLst/>
          </a:prstGeom>
          <a:solidFill>
            <a:srgbClr val="EDF0F5"/>
          </a:solidFill>
          <a:ln>
            <a:solidFill>
              <a:srgbClr val="2F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2032" y="1627632"/>
            <a:ext cx="1773936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400" b="0">
                <a:solidFill>
                  <a:srgbClr val="2B496C"/>
                </a:solidFill>
                <a:latin typeface="Arial Narrow"/>
              </a:defRPr>
            </a:pPr>
            <a:r>
              <a:t>Case</a:t>
            </a:r>
            <a:br/>
            <a:r>
              <a:t>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1947672"/>
            <a:ext cx="1773936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000" b="0">
                <a:solidFill>
                  <a:srgbClr val="2D2D30"/>
                </a:solidFill>
                <a:latin typeface="Arial Narrow"/>
              </a:defRPr>
            </a:pPr>
            <a:r>
              <a:t>Register &amp; Update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89120" y="1938528"/>
            <a:ext cx="274320" cy="0"/>
          </a:xfrm>
          <a:prstGeom prst="line">
            <a:avLst/>
          </a:prstGeom>
          <a:ln w="15240">
            <a:solidFill>
              <a:srgbClr val="2F4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709160" y="1508760"/>
            <a:ext cx="1920240" cy="868680"/>
          </a:xfrm>
          <a:prstGeom prst="roundRect">
            <a:avLst/>
          </a:prstGeom>
          <a:solidFill>
            <a:srgbClr val="EDF0F5"/>
          </a:solidFill>
          <a:ln>
            <a:solidFill>
              <a:srgbClr val="2F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82312" y="1627632"/>
            <a:ext cx="1773936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400" b="0">
                <a:solidFill>
                  <a:srgbClr val="2B496C"/>
                </a:solidFill>
                <a:latin typeface="Arial Narrow"/>
              </a:defRPr>
            </a:pPr>
            <a:r>
              <a:t>Core</a:t>
            </a:r>
            <a:br/>
            <a:r>
              <a:t>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1947672"/>
            <a:ext cx="1773936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000" b="0">
                <a:solidFill>
                  <a:srgbClr val="2D2D30"/>
                </a:solidFill>
                <a:latin typeface="Arial Narrow"/>
              </a:defRPr>
            </a:pPr>
            <a:r>
              <a:t>Search • History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29400" y="1938528"/>
            <a:ext cx="274320" cy="0"/>
          </a:xfrm>
          <a:prstGeom prst="line">
            <a:avLst/>
          </a:prstGeom>
          <a:ln w="15240">
            <a:solidFill>
              <a:srgbClr val="2F4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949440" y="1508760"/>
            <a:ext cx="1920240" cy="868680"/>
          </a:xfrm>
          <a:prstGeom prst="roundRect">
            <a:avLst/>
          </a:prstGeom>
          <a:solidFill>
            <a:srgbClr val="EDF0F5"/>
          </a:solidFill>
          <a:ln>
            <a:solidFill>
              <a:srgbClr val="2F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22592" y="1627632"/>
            <a:ext cx="1773936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400" b="0">
                <a:solidFill>
                  <a:srgbClr val="2B496C"/>
                </a:solidFill>
                <a:latin typeface="Arial Narrow"/>
              </a:defRPr>
            </a:pPr>
            <a:r>
              <a:t>Priority</a:t>
            </a:r>
            <a:br/>
            <a:r>
              <a:t>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2592" y="1947672"/>
            <a:ext cx="1773936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000" b="0">
                <a:solidFill>
                  <a:srgbClr val="2D2D30"/>
                </a:solidFill>
                <a:latin typeface="Arial Narrow"/>
              </a:defRPr>
            </a:pPr>
            <a:r>
              <a:t>Urgency • Max-Heap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69680" y="1938528"/>
            <a:ext cx="274320" cy="0"/>
          </a:xfrm>
          <a:prstGeom prst="line">
            <a:avLst/>
          </a:prstGeom>
          <a:ln w="15240">
            <a:solidFill>
              <a:srgbClr val="2F4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89720" y="1508760"/>
            <a:ext cx="1645920" cy="868680"/>
          </a:xfrm>
          <a:prstGeom prst="roundRect">
            <a:avLst/>
          </a:prstGeom>
          <a:solidFill>
            <a:srgbClr val="EDF0F5"/>
          </a:solidFill>
          <a:ln>
            <a:solidFill>
              <a:srgbClr val="2F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2872" y="1627632"/>
            <a:ext cx="1499616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400" b="0">
                <a:solidFill>
                  <a:srgbClr val="2B496C"/>
                </a:solidFill>
                <a:latin typeface="Arial Narrow"/>
              </a:defRPr>
            </a:pPr>
            <a: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1947672"/>
            <a:ext cx="1499616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000" b="0">
                <a:solidFill>
                  <a:srgbClr val="2D2D30"/>
                </a:solidFill>
                <a:latin typeface="Arial Narrow"/>
              </a:defRPr>
            </a:pPr>
            <a:r>
              <a:t>Next Case /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788920"/>
            <a:ext cx="4983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0">
                <a:solidFill>
                  <a:srgbClr val="2B496C"/>
                </a:solidFill>
                <a:latin typeface="Arial Narrow"/>
              </a:defRPr>
            </a:pPr>
            <a:r>
              <a:t>Major Components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172968"/>
            <a:ext cx="4983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2D2D30"/>
                </a:solidFill>
                <a:latin typeface="Arial Narrow"/>
              </a:defRPr>
            </a:pPr>
            <a:r>
              <a:t>▸  Case Management: Create, update and classify cases.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739896"/>
            <a:ext cx="4983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2D2D30"/>
                </a:solidFill>
                <a:latin typeface="Arial Narrow"/>
              </a:defRPr>
            </a:pPr>
            <a:r>
              <a:t>▸  Data Management: Hash Map for Case ID and Linked List for hearing records.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306824"/>
            <a:ext cx="4983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2D2D30"/>
                </a:solidFill>
                <a:latin typeface="Arial Narrow"/>
              </a:defRPr>
            </a:pPr>
            <a:r>
              <a:t>▸  Priority Engine: Calculate urgency and maintain the next case using a Max-Heap.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873752"/>
            <a:ext cx="4983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2D2D30"/>
                </a:solidFill>
                <a:latin typeface="Arial Narrow"/>
              </a:defRPr>
            </a:pPr>
            <a:r>
              <a:t>▸  Core Services: Evidence, witnesses, case status and reports.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2788920"/>
            <a:ext cx="4892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0">
                <a:solidFill>
                  <a:srgbClr val="2B496C"/>
                </a:solidFill>
                <a:latin typeface="Arial Narrow"/>
              </a:defRPr>
            </a:pPr>
            <a:r>
              <a:t>Data / Control 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172968"/>
            <a:ext cx="48920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2D2D30"/>
                </a:solidFill>
                <a:latin typeface="Arial Narrow"/>
              </a:defRPr>
            </a:pPr>
            <a:r>
              <a:t>▸  Data Pipeline: User Input → Case Management → Core Services → Priority Engine → Output.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3739896"/>
            <a:ext cx="48920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2D2D30"/>
                </a:solidFill>
                <a:latin typeface="Arial Narrow"/>
              </a:defRPr>
            </a:pPr>
            <a:r>
              <a:t>▸  Workflow: New Case → Check Details → Priority Calculation → Max-Heap → Highest Priority Case → Update Status.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4306824"/>
            <a:ext cx="48920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2D2D30"/>
                </a:solidFill>
                <a:latin typeface="Arial Narrow"/>
              </a:defRPr>
            </a:pPr>
            <a:r>
              <a:t>▸  Storage: Case records and documents managed within the simulation.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u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2860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5029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0">
                <a:solidFill>
                  <a:srgbClr val="2B496C"/>
                </a:solidFill>
                <a:latin typeface="Arial Narrow"/>
              </a:defRPr>
            </a:pPr>
            <a:r>
              <a:t>Technology Stack &amp;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0744200" cy="22860"/>
          </a:xfrm>
          <a:prstGeom prst="rect">
            <a:avLst/>
          </a:prstGeom>
          <a:solidFill>
            <a:srgbClr val="2F4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6537960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65E68"/>
                </a:solidFill>
                <a:latin typeface="Arial Narrow"/>
              </a:defRPr>
            </a:pPr>
            <a:r>
              <a:t>Department of Computer Science &amp; Engineering — Graphic Era (Deemed to be University)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3796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65E68"/>
                </a:solidFill>
                <a:latin typeface="Arial Narrow"/>
              </a:defRPr>
            </a:pPr>
            <a:r>
              <a:t>8/10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166360" cy="3977639"/>
          </a:xfrm>
          <a:prstGeom prst="roundRect">
            <a:avLst/>
          </a:prstGeom>
          <a:solidFill>
            <a:srgbClr val="E1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89320" y="1417320"/>
            <a:ext cx="5257800" cy="3977639"/>
          </a:xfrm>
          <a:prstGeom prst="roundRect">
            <a:avLst/>
          </a:prstGeom>
          <a:solidFill>
            <a:srgbClr val="E1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0">
                <a:solidFill>
                  <a:srgbClr val="2B496C"/>
                </a:solidFill>
                <a:latin typeface="Arial Narrow"/>
              </a:defRPr>
            </a:pPr>
            <a:r>
              <a:t>Technology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47548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400" b="0">
                <a:solidFill>
                  <a:srgbClr val="2D2D30"/>
                </a:solidFill>
                <a:latin typeface="Arial Narrow"/>
              </a:defRPr>
            </a:pPr>
            <a:r>
              <a:t>▸  Programming: C++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51176"/>
            <a:ext cx="47548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400" b="0">
                <a:solidFill>
                  <a:srgbClr val="2D2D30"/>
                </a:solidFill>
                <a:latin typeface="Arial Narrow"/>
              </a:defRPr>
            </a:pPr>
            <a:r>
              <a:t>▸  Core Structures: Priority Queue / Max-Heap, Hash Map, Linked List and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18104"/>
            <a:ext cx="47548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400" b="0">
                <a:solidFill>
                  <a:srgbClr val="2D2D30"/>
                </a:solidFill>
                <a:latin typeface="Arial Narrow"/>
              </a:defRPr>
            </a:pPr>
            <a:r>
              <a:t>▸  OOP: Classes, inheritance, abstraction and polymorphism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85032"/>
            <a:ext cx="47548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400" b="0">
                <a:solidFill>
                  <a:srgbClr val="2D2D30"/>
                </a:solidFill>
                <a:latin typeface="Arial Narrow"/>
              </a:defRPr>
            </a:pPr>
            <a:r>
              <a:t>▸  Development &amp; Testing: VS Code and C++ compiler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60020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0">
                <a:solidFill>
                  <a:srgbClr val="2B496C"/>
                </a:solidFill>
                <a:latin typeface="Arial Narrow"/>
              </a:defRPr>
            </a:pPr>
            <a:r>
              <a:t>Development Methodology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011680"/>
            <a:ext cx="47091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2D2D30"/>
                </a:solidFill>
                <a:latin typeface="Arial Narrow"/>
              </a:defRPr>
            </a:pPr>
            <a:r>
              <a:t>1. Requirement Analysis: Identify case data and priority factors.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70048"/>
            <a:ext cx="47091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2D2D30"/>
                </a:solidFill>
                <a:latin typeface="Arial Narrow"/>
              </a:defRPr>
            </a:pPr>
            <a:r>
              <a:t>2. System Design: Plan classes, data structures and workflow.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328415"/>
            <a:ext cx="47091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2D2D30"/>
                </a:solidFill>
                <a:latin typeface="Arial Narrow"/>
              </a:defRPr>
            </a:pPr>
            <a:r>
              <a:t>3. Implementation: Build case management and priority modules.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986783"/>
            <a:ext cx="47091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2D2D30"/>
                </a:solidFill>
                <a:latin typeface="Arial Narrow"/>
              </a:defRPr>
            </a:pPr>
            <a:r>
              <a:t>4. Testing: Validate registration, searching, priority and status updates.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645151"/>
            <a:ext cx="47091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2D2D30"/>
                </a:solidFill>
                <a:latin typeface="Arial Narrow"/>
              </a:defRPr>
            </a:pPr>
            <a:r>
              <a:t>5. Evaluation: Check correctness and overall system workflow.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5623560"/>
            <a:ext cx="10058400" cy="438912"/>
          </a:xfrm>
          <a:prstGeom prst="roundRect">
            <a:avLst/>
          </a:prstGeom>
          <a:solidFill>
            <a:srgbClr val="E1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733288"/>
            <a:ext cx="978408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0">
                <a:solidFill>
                  <a:srgbClr val="2D2D30"/>
                </a:solidFill>
                <a:latin typeface="Arial Narrow"/>
              </a:defRPr>
            </a:pPr>
            <a:r>
              <a:t>Approach chosen to demonstrate practical Data Structures and OOP integration in an educational courtroom simulation.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u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2860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5029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0">
                <a:solidFill>
                  <a:srgbClr val="2B496C"/>
                </a:solidFill>
                <a:latin typeface="Arial Narrow"/>
              </a:defRPr>
            </a:pPr>
            <a:r>
              <a:t>Project Milestones &amp; System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0744200" cy="22860"/>
          </a:xfrm>
          <a:prstGeom prst="rect">
            <a:avLst/>
          </a:prstGeom>
          <a:solidFill>
            <a:srgbClr val="2F4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6537960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65E68"/>
                </a:solidFill>
                <a:latin typeface="Arial Narrow"/>
              </a:defRPr>
            </a:pPr>
            <a:r>
              <a:t>Department of Computer Science &amp; Engineering — Graphic Era (Deemed to be University)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3796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65E68"/>
                </a:solidFill>
                <a:latin typeface="Arial Narrow"/>
              </a:defRPr>
            </a:pPr>
            <a:r>
              <a:t>9/10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4937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0">
                <a:solidFill>
                  <a:srgbClr val="2B496C"/>
                </a:solidFill>
                <a:latin typeface="Arial Narrow"/>
              </a:defRPr>
            </a:pPr>
            <a:r>
              <a:t>Major Milestones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01368"/>
            <a:ext cx="49377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400" b="0">
                <a:solidFill>
                  <a:srgbClr val="2D2D30"/>
                </a:solidFill>
                <a:latin typeface="Arial Narrow"/>
              </a:defRPr>
            </a:pPr>
            <a:r>
              <a:t>▸  Case registration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68296"/>
            <a:ext cx="49377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400" b="0">
                <a:solidFill>
                  <a:srgbClr val="2D2D30"/>
                </a:solidFill>
                <a:latin typeface="Arial Narrow"/>
              </a:defRPr>
            </a:pPr>
            <a:r>
              <a:t>▸  Urgency calculation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35224"/>
            <a:ext cx="49377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400" b="0">
                <a:solidFill>
                  <a:srgbClr val="2D2D30"/>
                </a:solidFill>
                <a:latin typeface="Arial Narrow"/>
              </a:defRPr>
            </a:pPr>
            <a:r>
              <a:t>▸  Priority Queue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02152"/>
            <a:ext cx="49377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400" b="0">
                <a:solidFill>
                  <a:srgbClr val="2D2D30"/>
                </a:solidFill>
                <a:latin typeface="Arial Narrow"/>
              </a:defRPr>
            </a:pPr>
            <a:r>
              <a:t>▸  Case searching using Case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069080"/>
            <a:ext cx="49377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400" b="0">
                <a:solidFill>
                  <a:srgbClr val="2D2D30"/>
                </a:solidFill>
                <a:latin typeface="Arial Narrow"/>
              </a:defRPr>
            </a:pPr>
            <a:r>
              <a:t>▸  Hearing-history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636008"/>
            <a:ext cx="49377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400" b="0">
                <a:solidFill>
                  <a:srgbClr val="2D2D30"/>
                </a:solidFill>
                <a:latin typeface="Arial Narrow"/>
              </a:defRPr>
            </a:pPr>
            <a:r>
              <a:t>▸  Testing and final project 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41732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0">
                <a:solidFill>
                  <a:srgbClr val="2B496C"/>
                </a:solidFill>
                <a:latin typeface="Arial Narrow"/>
              </a:defRPr>
            </a:pPr>
            <a:r>
              <a:t>Core System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828800"/>
            <a:ext cx="1691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2D2D30"/>
                </a:solidFill>
                <a:latin typeface="Arial Narrow"/>
              </a:defRPr>
            </a:pPr>
            <a:r>
              <a:t>Case Registration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828800"/>
            <a:ext cx="2971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2D2D30"/>
                </a:solidFill>
                <a:latin typeface="Arial Narrow"/>
              </a:defRPr>
            </a:pPr>
            <a:r>
              <a:t>Store type, severity, pending days and special conditions.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578608"/>
            <a:ext cx="1691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2D2D30"/>
                </a:solidFill>
                <a:latin typeface="Arial Narrow"/>
              </a:defRPr>
            </a:pPr>
            <a:r>
              <a:t>Priority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578608"/>
            <a:ext cx="2971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2D2D30"/>
                </a:solidFill>
                <a:latin typeface="Arial Narrow"/>
              </a:defRPr>
            </a:pPr>
            <a:r>
              <a:t>Calculate urgency and identify the next case to hear.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328415"/>
            <a:ext cx="1691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2D2D30"/>
                </a:solidFill>
                <a:latin typeface="Arial Narrow"/>
              </a:defRPr>
            </a:pPr>
            <a:r>
              <a:t>Case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328415"/>
            <a:ext cx="2971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2D2D30"/>
                </a:solidFill>
                <a:latin typeface="Arial Narrow"/>
              </a:defRPr>
            </a:pPr>
            <a:r>
              <a:t>Retrieve cases quickly through a unique Case ID.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078224"/>
            <a:ext cx="1691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2D2D30"/>
                </a:solidFill>
                <a:latin typeface="Arial Narrow"/>
              </a:defRPr>
            </a:pPr>
            <a:r>
              <a:t>Case 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078224"/>
            <a:ext cx="2971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2D2D30"/>
                </a:solidFill>
                <a:latin typeface="Arial Narrow"/>
              </a:defRPr>
            </a:pPr>
            <a:r>
              <a:t>Maintain evidence, witnesses and hearing history.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4828032"/>
            <a:ext cx="1691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2D2D30"/>
                </a:solidFill>
                <a:latin typeface="Arial Narrow"/>
              </a:defRPr>
            </a:pPr>
            <a:r>
              <a:t>Status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828032"/>
            <a:ext cx="2971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2D2D30"/>
                </a:solidFill>
                <a:latin typeface="Arial Narrow"/>
              </a:defRPr>
            </a:pPr>
            <a:r>
              <a:t>Update, process, dispose or close cases.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u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2860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5029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0">
                <a:solidFill>
                  <a:srgbClr val="2B496C"/>
                </a:solidFill>
                <a:latin typeface="Arial Narrow"/>
              </a:defRPr>
            </a:pPr>
            <a:r>
              <a:t>Expected Outcomes, Assumptions &amp;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0744200" cy="22860"/>
          </a:xfrm>
          <a:prstGeom prst="rect">
            <a:avLst/>
          </a:prstGeom>
          <a:solidFill>
            <a:srgbClr val="2F4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6537960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65E68"/>
                </a:solidFill>
                <a:latin typeface="Arial Narrow"/>
              </a:defRPr>
            </a:pPr>
            <a:r>
              <a:t>Department of Computer Science &amp; Engineering — Graphic Era (Deemed to be University)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3796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65E68"/>
                </a:solidFill>
                <a:latin typeface="Arial Narrow"/>
              </a:defRPr>
            </a:pPr>
            <a:r>
              <a:t>10/10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0">
                <a:solidFill>
                  <a:srgbClr val="2B496C"/>
                </a:solidFill>
                <a:latin typeface="Arial Narrow"/>
              </a:defRPr>
            </a:pPr>
            <a:r>
              <a:t>Expected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09928"/>
            <a:ext cx="50292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2D2D30"/>
                </a:solidFill>
                <a:latin typeface="Arial Narrow"/>
              </a:defRPr>
            </a:pPr>
            <a:r>
              <a:t>▸  Functional educational simulation for managing pending cases.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76856"/>
            <a:ext cx="50292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2D2D30"/>
                </a:solidFill>
                <a:latin typeface="Arial Narrow"/>
              </a:defRPr>
            </a:pPr>
            <a:r>
              <a:t>▸  Urgency-based case prioritization and organized hearing workflow.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43784"/>
            <a:ext cx="50292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2D2D30"/>
                </a:solidFill>
                <a:latin typeface="Arial Narrow"/>
              </a:defRPr>
            </a:pPr>
            <a:r>
              <a:t>▸  Practical demonstration of Priority Queues, Hash Maps, Linked Lists and Stacks.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10712"/>
            <a:ext cx="50292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2D2D30"/>
                </a:solidFill>
                <a:latin typeface="Arial Narrow"/>
              </a:defRPr>
            </a:pPr>
            <a:r>
              <a:t>▸  Clear integration of inheritance and polymorphism in C++.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3192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0">
                <a:solidFill>
                  <a:srgbClr val="2B496C"/>
                </a:solidFill>
                <a:latin typeface="Arial Narrow"/>
              </a:defRPr>
            </a:pPr>
            <a:r>
              <a:t>Assumptions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315968"/>
            <a:ext cx="50292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2D2D30"/>
                </a:solidFill>
                <a:latin typeface="Arial Narrow"/>
              </a:defRPr>
            </a:pPr>
            <a:r>
              <a:t>▸  User-provided case information is reasonably accurate.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82896"/>
            <a:ext cx="50292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2D2D30"/>
                </a:solidFill>
                <a:latin typeface="Arial Narrow"/>
              </a:defRPr>
            </a:pPr>
            <a:r>
              <a:t>▸  Urgency factors are educational values and do not represent real judicial rules.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449824"/>
            <a:ext cx="50292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2D2D30"/>
                </a:solidFill>
                <a:latin typeface="Arial Narrow"/>
              </a:defRPr>
            </a:pPr>
            <a:r>
              <a:t>▸  The system is a simulation and does not replace real court-management systems.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325880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0">
                <a:solidFill>
                  <a:srgbClr val="2B496C"/>
                </a:solidFill>
                <a:latin typeface="Arial Narrow"/>
              </a:defRPr>
            </a:pPr>
            <a:r>
              <a:t>References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83080"/>
            <a:ext cx="466344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2D2D30"/>
                </a:solidFill>
                <a:latin typeface="Arial Narrow"/>
              </a:defRPr>
            </a:pPr>
            <a:r>
              <a:t>1.  GeeksforGeeks — Data Structures, algorithms and C++ concepts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441448"/>
            <a:ext cx="466344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2D2D30"/>
                </a:solidFill>
                <a:latin typeface="Arial Narrow"/>
              </a:defRPr>
            </a:pPr>
            <a:r>
              <a:t>2.  W3Schools — C++ programming concepts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099815"/>
            <a:ext cx="466344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2D2D30"/>
                </a:solidFill>
                <a:latin typeface="Arial Narrow"/>
              </a:defRPr>
            </a:pPr>
            <a:r>
              <a:t>3.  Data Structures and OOP study materials, class notes and textbooks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758183"/>
            <a:ext cx="466344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2D2D30"/>
                </a:solidFill>
                <a:latin typeface="Arial Narrow"/>
              </a:defRPr>
            </a:pPr>
            <a:r>
              <a:t>4.  General information on digital case-management and court scheduling systems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4983480"/>
            <a:ext cx="3246120" cy="822960"/>
          </a:xfrm>
          <a:prstGeom prst="roundRect">
            <a:avLst/>
          </a:prstGeom>
          <a:solidFill>
            <a:srgbClr val="2B49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5212080"/>
            <a:ext cx="3063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2000" b="1">
                <a:solidFill>
                  <a:srgbClr val="FAFAF8"/>
                </a:solidFill>
                <a:latin typeface="Arial Narrow"/>
              </a:defRPr>
            </a:pPr>
            <a:r>
              <a:t>Thank You!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5623560"/>
            <a:ext cx="30632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000" b="0">
                <a:solidFill>
                  <a:srgbClr val="FAFAF8"/>
                </a:solidFill>
                <a:latin typeface="Arial Narrow"/>
              </a:defRPr>
            </a:pPr>
            <a:r>
              <a:t>Questions &amp; Suggestions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